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d5ddb6f4db4294" /><Relationship Type="http://schemas.openxmlformats.org/officeDocument/2006/relationships/extended-properties" Target="/docProps/app.xml" Id="Rebba0eaf4ecf4965" /><Relationship Type="http://schemas.openxmlformats.org/officeDocument/2006/relationships/officeDocument" Target="/ppt/presentation.xml" Id="Rb8e7e7a6842743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9fc86f9ecc40b7"/>
  </p:sldMasterIdLst>
  <p:notesMasterIdLst>
    <p:notesMasterId xmlns:r="http://schemas.openxmlformats.org/officeDocument/2006/relationships" r:id="R4afb0691c5a2483a"/>
  </p:notesMasterIdLst>
  <p:sldIdLst>
    <p:sldId xmlns:r="http://schemas.openxmlformats.org/officeDocument/2006/relationships" id="256" r:id="R5b630ceae63146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2da0fd579742fb" /><Relationship Type="http://schemas.openxmlformats.org/officeDocument/2006/relationships/slideMaster" Target="/ppt/slideMasters/slideMaster1.xml" Id="R1b9fc86f9ecc40b7" /><Relationship Type="http://schemas.openxmlformats.org/officeDocument/2006/relationships/notesMaster" Target="/ppt/notesMasters/notesMaster1.xml" Id="R4afb0691c5a2483a" /><Relationship Type="http://schemas.openxmlformats.org/officeDocument/2006/relationships/presProps" Target="/ppt/presProps.xml" Id="Re6d2fe44af7841ab" /><Relationship Type="http://schemas.openxmlformats.org/officeDocument/2006/relationships/tableStyles" Target="/ppt/tableStyles.xml" Id="R2042af1ca2664636" /><Relationship Type="http://schemas.openxmlformats.org/officeDocument/2006/relationships/slide" Target="/ppt/slides/slide1.xml" Id="R5b630ceae63146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a389a9334a4c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3a6936b3504aa8" /><Relationship Type="http://schemas.openxmlformats.org/officeDocument/2006/relationships/notesMaster" Target="/ppt/notesMasters/notesMaster1.xml" Id="R3fb4a4d00cf74e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73c6ca3f640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288b8b2ac24b35" /><Relationship Type="http://schemas.openxmlformats.org/officeDocument/2006/relationships/slideLayout" Target="/ppt/slideLayouts/slideLayout1.xml" Id="Ra13159d20cd048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3159d20cd048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ef12ac3914eb6" /><Relationship Type="http://schemas.openxmlformats.org/officeDocument/2006/relationships/notesSlide" Target="/ppt/notesSlides/notesSlide1.xml" Id="R7aef70bbf0d740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8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title">
            <a:extLst xmlns:a="http://schemas.openxmlformats.org/drawingml/2006/main">
              <a:ext uri="{FF2B5EF4-FFF2-40B4-BE49-F238E27FC236}">
                <a16:creationId xmlns:a16="http://schemas.microsoft.com/office/drawing/2014/main" id="{F139BA63-80F4-4A71-9914-B9C7EC6C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3ED"/>
                </a:solidFill>
              </a:defRPr>
            </a:pPr>
            <a:r>
              <a:rPr sz="2325" b="1">
                <a:solidFill>
                  <a:srgbClr val="F5F3ED"/>
                </a:solidFill>
              </a:rPr>
              <a:t>CodePrep admits model output only through validation and one atomic commit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5C76F4-749D-4346-98A7-C0A15DF2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391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DB2BC"/>
                </a:solidFill>
              </a:defRPr>
            </a:pPr>
            <a:r>
              <a:rPr sz="1088" b="0">
                <a:solidFill>
                  <a:srgbClr val="ADB2BC"/>
                </a:solidFill>
              </a:rPr>
              <a:t>One browser contract selects demo fixtures or a signed FastAPI path; validated JSON enters the database only with the quota update.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2D5EC38-5B24-42E1-BE84-7CB539A7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5F3ED"/>
            </a:solidFill>
            <a:prstDash val="solid"/>
          </a:ln>
        </p:spPr>
      </p:sp>
      <p:sp>
        <p:nvSpPr>
          <p:cNvPr id="4" name="webhook-to-verify">
            <a:extLst xmlns:a="http://schemas.openxmlformats.org/drawingml/2006/main">
              <a:ext uri="{FF2B5EF4-FFF2-40B4-BE49-F238E27FC236}">
                <a16:creationId xmlns:a16="http://schemas.microsoft.com/office/drawing/2014/main" id="{09E8DA3A-281A-4CA6-A554-020C2448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solidFill>
              <a:srgbClr val="5EEAD4"/>
            </a:solidFill>
            <a:prstDash val="solid"/>
          </a:ln>
        </p:spPr>
      </p:sp>
      <p:sp>
        <p:nvSpPr>
          <p:cNvPr id="5" name="verify-to-provision">
            <a:extLst xmlns:a="http://schemas.openxmlformats.org/drawingml/2006/main">
              <a:ext uri="{FF2B5EF4-FFF2-40B4-BE49-F238E27FC236}">
                <a16:creationId xmlns:a16="http://schemas.microsoft.com/office/drawing/2014/main" id="{6810ABC3-BA27-4E48-881A-BA8331DC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62500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solidFill>
              <a:srgbClr val="5EEAD4"/>
            </a:solidFill>
            <a:prstDash val="solid"/>
          </a:ln>
        </p:spPr>
      </p:sp>
      <p:sp>
        <p:nvSpPr>
          <p:cNvPr id="6" name="provision-to-db">
            <a:extLst xmlns:a="http://schemas.openxmlformats.org/drawingml/2006/main">
              <a:ext uri="{FF2B5EF4-FFF2-40B4-BE49-F238E27FC236}">
                <a16:creationId xmlns:a16="http://schemas.microsoft.com/office/drawing/2014/main" id="{53ECAB7D-E8F5-4FA3-A1DE-7B77D059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762500"/>
            <a:ext cx="419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solidFill>
              <a:srgbClr val="5EEAD4"/>
            </a:solidFill>
            <a:prstDash val="solid"/>
          </a:ln>
        </p:spPr>
      </p:sp>
      <p:sp>
        <p:nvSpPr>
          <p:cNvPr id="7" name="browser-label">
            <a:extLst xmlns:a="http://schemas.openxmlformats.org/drawingml/2006/main">
              <a:ext uri="{FF2B5EF4-FFF2-40B4-BE49-F238E27FC236}">
                <a16:creationId xmlns:a16="http://schemas.microsoft.com/office/drawing/2014/main" id="{1A121D29-861D-493F-B19A-8BE51CE4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45"/>
                </a:solidFill>
              </a:defRPr>
            </a:pPr>
            <a:r>
              <a:rPr sz="900" b="1">
                <a:solidFill>
                  <a:srgbClr val="FF8A45"/>
                </a:solidFill>
              </a:rPr>
              <a:t>BROWSER RUNTIME</a:t>
            </a:r>
          </a:p>
        </p:txBody>
      </p:sp>
      <p:sp>
        <p:nvSpPr>
          <p:cNvPr id="8" name="browser-shell">
            <a:extLst xmlns:a="http://schemas.openxmlformats.org/drawingml/2006/main">
              <a:ext uri="{FF2B5EF4-FFF2-40B4-BE49-F238E27FC236}">
                <a16:creationId xmlns:a16="http://schemas.microsoft.com/office/drawing/2014/main" id="{4B24522B-711D-47DF-800C-A2FBBBF2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572000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23252B"/>
          </a:solidFill>
          <a:ln xmlns:a="http://schemas.openxmlformats.org/drawingml/2006/main" w="11430">
            <a:solidFill>
              <a:srgbClr val="565B66"/>
            </a:solidFill>
            <a:prstDash val="solid"/>
          </a:ln>
        </p:spPr>
      </p:sp>
      <p:sp>
        <p:nvSpPr>
          <p:cNvPr id="9" name="react-frame">
            <a:extLst xmlns:a="http://schemas.openxmlformats.org/drawingml/2006/main">
              <a:ext uri="{FF2B5EF4-FFF2-40B4-BE49-F238E27FC236}">
                <a16:creationId xmlns:a16="http://schemas.microsoft.com/office/drawing/2014/main" id="{6C77F5CE-F325-493A-BA05-A7D729B0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12395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2D2F35"/>
          </a:solidFill>
          <a:ln xmlns:a="http://schemas.openxmlformats.org/drawingml/2006/main" w="10478">
            <a:solidFill>
              <a:srgbClr val="FF8A45"/>
            </a:solidFill>
            <a:prstDash val="solid"/>
          </a:ln>
        </p:spPr>
      </p:sp>
      <p:sp>
        <p:nvSpPr>
          <p:cNvPr id="10" name="react-eyebrow">
            <a:extLst xmlns:a="http://schemas.openxmlformats.org/drawingml/2006/main">
              <a:ext uri="{FF2B5EF4-FFF2-40B4-BE49-F238E27FC236}">
                <a16:creationId xmlns:a16="http://schemas.microsoft.com/office/drawing/2014/main" id="{1ECF7BC8-553C-41AE-870E-F1F13A0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8A45"/>
                </a:solidFill>
              </a:defRPr>
            </a:pPr>
            <a:r>
              <a:rPr sz="690" b="1">
                <a:solidFill>
                  <a:srgbClr val="FF8A45"/>
                </a:solidFill>
              </a:rPr>
              <a:t>REACT 19</a:t>
            </a:r>
          </a:p>
        </p:txBody>
      </p:sp>
      <p:sp>
        <p:nvSpPr>
          <p:cNvPr id="11" name="react-title">
            <a:extLst xmlns:a="http://schemas.openxmlformats.org/drawingml/2006/main">
              <a:ext uri="{FF2B5EF4-FFF2-40B4-BE49-F238E27FC236}">
                <a16:creationId xmlns:a16="http://schemas.microsoft.com/office/drawing/2014/main" id="{EBA410C3-B2AE-4EEE-8333-A516CBD3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practice</a:t>
            </a:r>
          </a:p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workspace</a:t>
            </a:r>
          </a:p>
        </p:txBody>
      </p:sp>
      <p:sp>
        <p:nvSpPr>
          <p:cNvPr id="12" name="react-note">
            <a:extLst xmlns:a="http://schemas.openxmlformats.org/drawingml/2006/main">
              <a:ext uri="{FF2B5EF4-FFF2-40B4-BE49-F238E27FC236}">
                <a16:creationId xmlns:a16="http://schemas.microsoft.com/office/drawing/2014/main" id="{983F2FA7-AA05-41CD-9D66-CD743C3E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ADB2BC"/>
                </a:solidFill>
              </a:defRPr>
            </a:pPr>
            <a:r>
              <a:rPr sz="660" b="0">
                <a:solidFill>
                  <a:srgbClr val="ADB2BC"/>
                </a:solidFill>
              </a:rPr>
              <a:t>makeRequest()</a:t>
            </a:r>
          </a:p>
        </p:txBody>
      </p:sp>
      <p:sp>
        <p:nvSpPr>
          <p:cNvPr id="13" name="mode-router">
            <a:extLst xmlns:a="http://schemas.openxmlformats.org/drawingml/2006/main">
              <a:ext uri="{FF2B5EF4-FFF2-40B4-BE49-F238E27FC236}">
                <a16:creationId xmlns:a16="http://schemas.microsoft.com/office/drawing/2014/main" id="{5BA06470-80B4-4DE5-B7FB-E1EEC127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885950"/>
            <a:ext cx="666750" cy="895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3C2A22"/>
          </a:solidFill>
          <a:ln xmlns:a="http://schemas.openxmlformats.org/drawingml/2006/main" w="11430">
            <a:solidFill>
              <a:srgbClr val="FF8A45"/>
            </a:solidFill>
            <a:prstDash val="solid"/>
          </a:ln>
        </p:spPr>
      </p:sp>
      <p:sp>
        <p:nvSpPr>
          <p:cNvPr id="14" name="mode-text">
            <a:extLst xmlns:a="http://schemas.openxmlformats.org/drawingml/2006/main">
              <a:ext uri="{FF2B5EF4-FFF2-40B4-BE49-F238E27FC236}">
                <a16:creationId xmlns:a16="http://schemas.microsoft.com/office/drawing/2014/main" id="{9C41B2F6-483E-40FE-AD51-AF097DD6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43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8A45"/>
                </a:solidFill>
              </a:defRPr>
            </a:pPr>
            <a:r>
              <a:rPr sz="788" b="1">
                <a:solidFill>
                  <a:srgbClr val="FF8A45"/>
                </a:solidFill>
              </a:rPr>
              <a:t>runtime</a:t>
            </a:r>
          </a:p>
          <a:p xmlns:a="http://schemas.openxmlformats.org/drawingml/2006/main">
            <a:pPr algn="ctr">
              <a:defRPr sz="788" b="1">
                <a:solidFill>
                  <a:srgbClr val="FF8A45"/>
                </a:solidFill>
              </a:defRPr>
            </a:pPr>
            <a:r>
              <a:rPr sz="788" b="1">
                <a:solidFill>
                  <a:srgbClr val="FF8A45"/>
                </a:solidFill>
              </a:rPr>
              <a:t>mode</a:t>
            </a:r>
          </a:p>
        </p:txBody>
      </p:sp>
      <p:sp>
        <p:nvSpPr>
          <p:cNvPr id="15" name="live-path-frame">
            <a:extLst xmlns:a="http://schemas.openxmlformats.org/drawingml/2006/main">
              <a:ext uri="{FF2B5EF4-FFF2-40B4-BE49-F238E27FC236}">
                <a16:creationId xmlns:a16="http://schemas.microsoft.com/office/drawing/2014/main" id="{29F6571B-4E32-474A-846F-7499CE56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5240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3C2A22"/>
          </a:solidFill>
          <a:ln xmlns:a="http://schemas.openxmlformats.org/drawingml/2006/main" w="10478">
            <a:solidFill>
              <a:srgbClr val="FF8A45"/>
            </a:solidFill>
            <a:prstDash val="solid"/>
          </a:ln>
        </p:spPr>
      </p:sp>
      <p:sp>
        <p:nvSpPr>
          <p:cNvPr id="16" name="live-path-eyebrow">
            <a:extLst xmlns:a="http://schemas.openxmlformats.org/drawingml/2006/main">
              <a:ext uri="{FF2B5EF4-FFF2-40B4-BE49-F238E27FC236}">
                <a16:creationId xmlns:a16="http://schemas.microsoft.com/office/drawing/2014/main" id="{4015811C-8055-434B-B6E3-51DE757E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47875"/>
            <a:ext cx="1295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8A45"/>
                </a:solidFill>
              </a:defRPr>
            </a:pPr>
            <a:r>
              <a:rPr sz="690" b="1">
                <a:solidFill>
                  <a:srgbClr val="FF8A45"/>
                </a:solidFill>
              </a:rPr>
              <a:t>LIVE ADAPTER</a:t>
            </a:r>
          </a:p>
        </p:txBody>
      </p:sp>
      <p:sp>
        <p:nvSpPr>
          <p:cNvPr id="17" name="live-path-title">
            <a:extLst xmlns:a="http://schemas.openxmlformats.org/drawingml/2006/main">
              <a:ext uri="{FF2B5EF4-FFF2-40B4-BE49-F238E27FC236}">
                <a16:creationId xmlns:a16="http://schemas.microsoft.com/office/drawing/2014/main" id="{5A5E2ED9-777E-4F64-BFC2-664F9C4C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Clerk session</a:t>
            </a:r>
          </a:p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+ LiveApiProvider</a:t>
            </a:r>
          </a:p>
        </p:txBody>
      </p:sp>
      <p:sp>
        <p:nvSpPr>
          <p:cNvPr id="18" name="live-path-note">
            <a:extLst xmlns:a="http://schemas.openxmlformats.org/drawingml/2006/main">
              <a:ext uri="{FF2B5EF4-FFF2-40B4-BE49-F238E27FC236}">
                <a16:creationId xmlns:a16="http://schemas.microsoft.com/office/drawing/2014/main" id="{329F35C8-D799-4DA2-99B5-FD543326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05075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ADB2BC"/>
                </a:solidFill>
              </a:defRPr>
            </a:pPr>
            <a:r>
              <a:rPr sz="660" b="0">
                <a:solidFill>
                  <a:srgbClr val="ADB2BC"/>
                </a:solidFill>
              </a:rPr>
              <a:t>Bearer JWT</a:t>
            </a:r>
          </a:p>
        </p:txBody>
      </p:sp>
      <p:sp>
        <p:nvSpPr>
          <p:cNvPr id="19" name="demo-provider-frame">
            <a:extLst xmlns:a="http://schemas.openxmlformats.org/drawingml/2006/main">
              <a:ext uri="{FF2B5EF4-FFF2-40B4-BE49-F238E27FC236}">
                <a16:creationId xmlns:a16="http://schemas.microsoft.com/office/drawing/2014/main" id="{41996F5E-9E9C-4133-8256-281DA18B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123825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302B46"/>
          </a:solidFill>
          <a:ln xmlns:a="http://schemas.openxmlformats.org/drawingml/2006/main" w="10478">
            <a:solidFill>
              <a:srgbClr val="A78BFA"/>
            </a:solidFill>
            <a:prstDash val="solid"/>
          </a:ln>
        </p:spPr>
      </p:sp>
      <p:sp>
        <p:nvSpPr>
          <p:cNvPr id="20" name="demo-provider-eyebrow">
            <a:extLst xmlns:a="http://schemas.openxmlformats.org/drawingml/2006/main">
              <a:ext uri="{FF2B5EF4-FFF2-40B4-BE49-F238E27FC236}">
                <a16:creationId xmlns:a16="http://schemas.microsoft.com/office/drawing/2014/main" id="{4BC4AC65-C688-428E-91C5-E0F08037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05175"/>
            <a:ext cx="1009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A78BFA"/>
                </a:solidFill>
              </a:defRPr>
            </a:pPr>
            <a:r>
              <a:rPr sz="690" b="1">
                <a:solidFill>
                  <a:srgbClr val="A78BFA"/>
                </a:solidFill>
              </a:rPr>
              <a:t>DEMO</a:t>
            </a:r>
          </a:p>
        </p:txBody>
      </p:sp>
      <p:sp>
        <p:nvSpPr>
          <p:cNvPr id="21" name="demo-provider-title">
            <a:extLst xmlns:a="http://schemas.openxmlformats.org/drawingml/2006/main">
              <a:ext uri="{FF2B5EF4-FFF2-40B4-BE49-F238E27FC236}">
                <a16:creationId xmlns:a16="http://schemas.microsoft.com/office/drawing/2014/main" id="{1145731B-79A7-4611-90ED-80E5D4B9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Demo API</a:t>
            </a:r>
          </a:p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provider</a:t>
            </a:r>
          </a:p>
        </p:txBody>
      </p:sp>
      <p:sp>
        <p:nvSpPr>
          <p:cNvPr id="22" name="demo-provider-note">
            <a:extLst xmlns:a="http://schemas.openxmlformats.org/drawingml/2006/main">
              <a:ext uri="{FF2B5EF4-FFF2-40B4-BE49-F238E27FC236}">
                <a16:creationId xmlns:a16="http://schemas.microsoft.com/office/drawing/2014/main" id="{DCFC93D4-E69D-4670-9B99-E3C46CE1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6237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ADB2BC"/>
                </a:solidFill>
              </a:defRPr>
            </a:pPr>
            <a:r>
              <a:rPr sz="660" b="0">
                <a:solidFill>
                  <a:srgbClr val="ADB2BC"/>
                </a:solidFill>
              </a:rPr>
              <a:t>same request contract</a:t>
            </a:r>
          </a:p>
        </p:txBody>
      </p:sp>
      <p:sp>
        <p:nvSpPr>
          <p:cNvPr id="23" name="fixtures-frame">
            <a:extLst xmlns:a="http://schemas.openxmlformats.org/drawingml/2006/main">
              <a:ext uri="{FF2B5EF4-FFF2-40B4-BE49-F238E27FC236}">
                <a16:creationId xmlns:a16="http://schemas.microsoft.com/office/drawing/2014/main" id="{5D317D08-7DCC-4520-A27C-A7ADB930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142875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302B46"/>
          </a:solidFill>
          <a:ln xmlns:a="http://schemas.openxmlformats.org/drawingml/2006/main" w="10478">
            <a:solidFill>
              <a:srgbClr val="A78BFA"/>
            </a:solidFill>
            <a:prstDash val="solid"/>
          </a:ln>
        </p:spPr>
      </p:sp>
      <p:sp>
        <p:nvSpPr>
          <p:cNvPr id="24" name="fixtures-eyebrow">
            <a:extLst xmlns:a="http://schemas.openxmlformats.org/drawingml/2006/main">
              <a:ext uri="{FF2B5EF4-FFF2-40B4-BE49-F238E27FC236}">
                <a16:creationId xmlns:a16="http://schemas.microsoft.com/office/drawing/2014/main" id="{C03AC6EB-8D28-4DBC-A5AB-B9728E82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051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A78BFA"/>
                </a:solidFill>
              </a:defRPr>
            </a:pPr>
            <a:r>
              <a:rPr sz="690" b="1">
                <a:solidFill>
                  <a:srgbClr val="A78BFA"/>
                </a:solidFill>
              </a:rPr>
              <a:t>LOCAL</a:t>
            </a:r>
          </a:p>
        </p:txBody>
      </p:sp>
      <p:sp>
        <p:nvSpPr>
          <p:cNvPr id="25" name="fixtures-title">
            <a:extLst xmlns:a="http://schemas.openxmlformats.org/drawingml/2006/main">
              <a:ext uri="{FF2B5EF4-FFF2-40B4-BE49-F238E27FC236}">
                <a16:creationId xmlns:a16="http://schemas.microsoft.com/office/drawing/2014/main" id="{528513A0-CCC2-4471-9437-AE2A7402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deterministic</a:t>
            </a:r>
          </a:p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fixtures</a:t>
            </a:r>
          </a:p>
        </p:txBody>
      </p:sp>
      <p:sp>
        <p:nvSpPr>
          <p:cNvPr id="26" name="fixtures-note">
            <a:extLst xmlns:a="http://schemas.openxmlformats.org/drawingml/2006/main">
              <a:ext uri="{FF2B5EF4-FFF2-40B4-BE49-F238E27FC236}">
                <a16:creationId xmlns:a16="http://schemas.microsoft.com/office/drawing/2014/main" id="{6A961758-C3B1-42E9-B7F5-6F4882C5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762375"/>
            <a:ext cx="1257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ADB2BC"/>
                </a:solidFill>
              </a:defRPr>
            </a:pPr>
            <a:r>
              <a:rPr sz="660" b="0">
                <a:solidFill>
                  <a:srgbClr val="ADB2BC"/>
                </a:solidFill>
              </a:rPr>
              <a:t>no auth · model · DB</a:t>
            </a:r>
          </a:p>
        </p:txBody>
      </p:sp>
      <p:sp>
        <p:nvSpPr>
          <p:cNvPr id="27" name="demo-boundary">
            <a:extLst xmlns:a="http://schemas.openxmlformats.org/drawingml/2006/main">
              <a:ext uri="{FF2B5EF4-FFF2-40B4-BE49-F238E27FC236}">
                <a16:creationId xmlns:a16="http://schemas.microsoft.com/office/drawing/2014/main" id="{94D317C7-9C13-4132-B79B-F4FD2B0A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5290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DB2BC"/>
                </a:solidFill>
              </a:defRPr>
            </a:pPr>
            <a:r>
              <a:rPr sz="788" b="0">
                <a:solidFill>
                  <a:srgbClr val="ADB2BC"/>
                </a:solidFill>
              </a:rPr>
              <a:t>Demo path terminates inside the browser.</a:t>
            </a:r>
          </a:p>
        </p:txBody>
      </p:sp>
      <p:sp>
        <p:nvSpPr>
          <p:cNvPr id="28" name="backend-label">
            <a:extLst xmlns:a="http://schemas.openxmlformats.org/drawingml/2006/main">
              <a:ext uri="{FF2B5EF4-FFF2-40B4-BE49-F238E27FC236}">
                <a16:creationId xmlns:a16="http://schemas.microsoft.com/office/drawing/2014/main" id="{6792F74C-5CB0-4E6D-BA2A-DDFF70EE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192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8BFA"/>
                </a:solidFill>
              </a:defRPr>
            </a:pPr>
            <a:r>
              <a:rPr sz="900" b="1">
                <a:solidFill>
                  <a:srgbClr val="A78BFA"/>
                </a:solidFill>
              </a:rPr>
              <a:t>AUTHENTICATED GENERATION PATH</a:t>
            </a:r>
          </a:p>
        </p:txBody>
      </p:sp>
      <p:sp>
        <p:nvSpPr>
          <p:cNvPr id="29" name="backend-shell">
            <a:extLst xmlns:a="http://schemas.openxmlformats.org/drawingml/2006/main">
              <a:ext uri="{FF2B5EF4-FFF2-40B4-BE49-F238E27FC236}">
                <a16:creationId xmlns:a16="http://schemas.microsoft.com/office/drawing/2014/main" id="{AE36B7E8-5033-425F-9C01-2B695F92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66850"/>
            <a:ext cx="6600825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23252B"/>
          </a:solidFill>
          <a:ln xmlns:a="http://schemas.openxmlformats.org/drawingml/2006/main" w="11430">
            <a:solidFill>
              <a:srgbClr val="565B66"/>
            </a:solidFill>
            <a:prstDash val="solid"/>
          </a:ln>
        </p:spPr>
      </p:sp>
      <p:sp>
        <p:nvSpPr>
          <p:cNvPr id="30" name="fastapi-frame">
            <a:extLst xmlns:a="http://schemas.openxmlformats.org/drawingml/2006/main">
              <a:ext uri="{FF2B5EF4-FFF2-40B4-BE49-F238E27FC236}">
                <a16:creationId xmlns:a16="http://schemas.microsoft.com/office/drawing/2014/main" id="{C10EAA47-980C-44A1-8037-7BDA2F3A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11430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2D2F35"/>
          </a:solidFill>
          <a:ln xmlns:a="http://schemas.openxmlformats.org/drawingml/2006/main" w="10478">
            <a:solidFill>
              <a:srgbClr val="FF8A45"/>
            </a:solidFill>
            <a:prstDash val="solid"/>
          </a:ln>
        </p:spPr>
      </p:sp>
      <p:sp>
        <p:nvSpPr>
          <p:cNvPr id="31" name="fastapi-eyebrow">
            <a:extLst xmlns:a="http://schemas.openxmlformats.org/drawingml/2006/main">
              <a:ext uri="{FF2B5EF4-FFF2-40B4-BE49-F238E27FC236}">
                <a16:creationId xmlns:a16="http://schemas.microsoft.com/office/drawing/2014/main" id="{520169FD-649D-498F-BAC7-3EF626D7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47875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F8A45"/>
                </a:solidFill>
              </a:defRPr>
            </a:pPr>
            <a:r>
              <a:rPr sz="690" b="1">
                <a:solidFill>
                  <a:srgbClr val="FF8A45"/>
                </a:solidFill>
              </a:rPr>
              <a:t>FASTAPI ROUTE</a:t>
            </a:r>
          </a:p>
        </p:txBody>
      </p:sp>
      <p:sp>
        <p:nvSpPr>
          <p:cNvPr id="32" name="fastapi-title">
            <a:extLst xmlns:a="http://schemas.openxmlformats.org/drawingml/2006/main">
              <a:ext uri="{FF2B5EF4-FFF2-40B4-BE49-F238E27FC236}">
                <a16:creationId xmlns:a16="http://schemas.microsoft.com/office/drawing/2014/main" id="{F0AEACD1-AAEF-429E-81D5-6DA488C7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479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generate</a:t>
            </a:r>
          </a:p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challenge</a:t>
            </a:r>
          </a:p>
        </p:txBody>
      </p:sp>
      <p:sp>
        <p:nvSpPr>
          <p:cNvPr id="33" name="fastapi-note">
            <a:extLst xmlns:a="http://schemas.openxmlformats.org/drawingml/2006/main">
              <a:ext uri="{FF2B5EF4-FFF2-40B4-BE49-F238E27FC236}">
                <a16:creationId xmlns:a16="http://schemas.microsoft.com/office/drawing/2014/main" id="{B5F8216E-4027-4704-A10B-151BD932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05075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ADB2BC"/>
                </a:solidFill>
              </a:defRPr>
            </a:pPr>
            <a:r>
              <a:rPr sz="660" b="0">
                <a:solidFill>
                  <a:srgbClr val="ADB2BC"/>
                </a:solidFill>
              </a:rPr>
              <a:t>POST /api</a:t>
            </a:r>
          </a:p>
        </p:txBody>
      </p:sp>
      <p:sp>
        <p:nvSpPr>
          <p:cNvPr id="34" name="quota-frame">
            <a:extLst xmlns:a="http://schemas.openxmlformats.org/drawingml/2006/main">
              <a:ext uri="{FF2B5EF4-FFF2-40B4-BE49-F238E27FC236}">
                <a16:creationId xmlns:a16="http://schemas.microsoft.com/office/drawing/2014/main" id="{E994F8B5-40A8-4C03-BE51-70FAA232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1190625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302B46"/>
          </a:solidFill>
          <a:ln xmlns:a="http://schemas.openxmlformats.org/drawingml/2006/main" w="10478">
            <a:solidFill>
              <a:srgbClr val="A78BFA"/>
            </a:solidFill>
            <a:prstDash val="solid"/>
          </a:ln>
        </p:spPr>
      </p:sp>
      <p:sp>
        <p:nvSpPr>
          <p:cNvPr id="35" name="quota-eyebrow">
            <a:extLst xmlns:a="http://schemas.openxmlformats.org/drawingml/2006/main">
              <a:ext uri="{FF2B5EF4-FFF2-40B4-BE49-F238E27FC236}">
                <a16:creationId xmlns:a16="http://schemas.microsoft.com/office/drawing/2014/main" id="{65B270EA-1FEC-4692-9481-4DEF0BF0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47875"/>
            <a:ext cx="962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A78BFA"/>
                </a:solidFill>
              </a:defRPr>
            </a:pPr>
            <a:r>
              <a:rPr sz="690" b="1">
                <a:solidFill>
                  <a:srgbClr val="A78BFA"/>
                </a:solidFill>
              </a:rPr>
              <a:t>GATE</a:t>
            </a:r>
          </a:p>
        </p:txBody>
      </p:sp>
      <p:sp>
        <p:nvSpPr>
          <p:cNvPr id="36" name="quota-title">
            <a:extLst xmlns:a="http://schemas.openxmlformats.org/drawingml/2006/main">
              <a:ext uri="{FF2B5EF4-FFF2-40B4-BE49-F238E27FC236}">
                <a16:creationId xmlns:a16="http://schemas.microsoft.com/office/drawing/2014/main" id="{00FE4F38-0049-4F51-B290-0F01258B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auth + quota</a:t>
            </a:r>
          </a:p>
        </p:txBody>
      </p:sp>
      <p:sp>
        <p:nvSpPr>
          <p:cNvPr id="37" name="quota-note">
            <a:extLst xmlns:a="http://schemas.openxmlformats.org/drawingml/2006/main">
              <a:ext uri="{FF2B5EF4-FFF2-40B4-BE49-F238E27FC236}">
                <a16:creationId xmlns:a16="http://schemas.microsoft.com/office/drawing/2014/main" id="{001B10B6-D32C-488E-8ED8-B2CA2BF2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05075"/>
            <a:ext cx="1019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ADB2BC"/>
                </a:solidFill>
              </a:defRPr>
            </a:pPr>
            <a:r>
              <a:rPr sz="660" b="0">
                <a:solidFill>
                  <a:srgbClr val="ADB2BC"/>
                </a:solidFill>
              </a:rPr>
              <a:t>load · reset · 429</a:t>
            </a:r>
          </a:p>
        </p:txBody>
      </p:sp>
      <p:sp>
        <p:nvSpPr>
          <p:cNvPr id="38" name="hf-frame">
            <a:extLst xmlns:a="http://schemas.openxmlformats.org/drawingml/2006/main">
              <a:ext uri="{FF2B5EF4-FFF2-40B4-BE49-F238E27FC236}">
                <a16:creationId xmlns:a16="http://schemas.microsoft.com/office/drawing/2014/main" id="{184EABF1-1BF7-4CA6-B7C6-B811759F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1000125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302B46"/>
          </a:solidFill>
          <a:ln xmlns:a="http://schemas.openxmlformats.org/drawingml/2006/main" w="10478">
            <a:solidFill>
              <a:srgbClr val="A78BFA"/>
            </a:solidFill>
            <a:prstDash val="solid"/>
          </a:ln>
        </p:spPr>
      </p:sp>
      <p:sp>
        <p:nvSpPr>
          <p:cNvPr id="39" name="hf-eyebrow">
            <a:extLst xmlns:a="http://schemas.openxmlformats.org/drawingml/2006/main">
              <a:ext uri="{FF2B5EF4-FFF2-40B4-BE49-F238E27FC236}">
                <a16:creationId xmlns:a16="http://schemas.microsoft.com/office/drawing/2014/main" id="{D73B0CC8-4281-43A2-9964-8CD28E88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47875"/>
            <a:ext cx="7715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A78BFA"/>
                </a:solidFill>
              </a:defRPr>
            </a:pPr>
            <a:r>
              <a:rPr sz="690" b="1">
                <a:solidFill>
                  <a:srgbClr val="A78BFA"/>
                </a:solidFill>
              </a:rPr>
              <a:t>PROVIDER</a:t>
            </a:r>
          </a:p>
        </p:txBody>
      </p:sp>
      <p:sp>
        <p:nvSpPr>
          <p:cNvPr id="40" name="hf-title">
            <a:extLst xmlns:a="http://schemas.openxmlformats.org/drawingml/2006/main">
              <a:ext uri="{FF2B5EF4-FFF2-40B4-BE49-F238E27FC236}">
                <a16:creationId xmlns:a16="http://schemas.microsoft.com/office/drawing/2014/main" id="{F2141020-E44B-40B2-B795-CA2B300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479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HF inference</a:t>
            </a:r>
          </a:p>
        </p:txBody>
      </p:sp>
      <p:sp>
        <p:nvSpPr>
          <p:cNvPr id="41" name="hf-note">
            <a:extLst xmlns:a="http://schemas.openxmlformats.org/drawingml/2006/main">
              <a:ext uri="{FF2B5EF4-FFF2-40B4-BE49-F238E27FC236}">
                <a16:creationId xmlns:a16="http://schemas.microsoft.com/office/drawing/2014/main" id="{B82C111A-E1F8-4609-B720-5E7C8078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05075"/>
            <a:ext cx="828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ADB2BC"/>
                </a:solidFill>
              </a:defRPr>
            </a:pPr>
            <a:r>
              <a:rPr sz="660" b="0">
                <a:solidFill>
                  <a:srgbClr val="ADB2BC"/>
                </a:solidFill>
              </a:rPr>
              <a:t>JSON requested</a:t>
            </a:r>
          </a:p>
        </p:txBody>
      </p:sp>
      <p:sp>
        <p:nvSpPr>
          <p:cNvPr id="42" name="schema-frame">
            <a:extLst xmlns:a="http://schemas.openxmlformats.org/drawingml/2006/main">
              <a:ext uri="{FF2B5EF4-FFF2-40B4-BE49-F238E27FC236}">
                <a16:creationId xmlns:a16="http://schemas.microsoft.com/office/drawing/2014/main" id="{1C6B4EDB-025B-470B-8383-0B90C26A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11430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1F3735"/>
          </a:solidFill>
          <a:ln xmlns:a="http://schemas.openxmlformats.org/drawingml/2006/main" w="10478">
            <a:solidFill>
              <a:srgbClr val="5EEAD4"/>
            </a:solidFill>
            <a:prstDash val="solid"/>
          </a:ln>
        </p:spPr>
      </p:sp>
      <p:sp>
        <p:nvSpPr>
          <p:cNvPr id="43" name="schema-eyebrow">
            <a:extLst xmlns:a="http://schemas.openxmlformats.org/drawingml/2006/main">
              <a:ext uri="{FF2B5EF4-FFF2-40B4-BE49-F238E27FC236}">
                <a16:creationId xmlns:a16="http://schemas.microsoft.com/office/drawing/2014/main" id="{D57AAD37-D184-48EF-871C-DE4664F0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47875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5EEAD4"/>
                </a:solidFill>
              </a:defRPr>
            </a:pPr>
            <a:r>
              <a:rPr sz="690" b="1">
                <a:solidFill>
                  <a:srgbClr val="5EEAD4"/>
                </a:solidFill>
              </a:rPr>
              <a:t>PYDANTIC</a:t>
            </a:r>
          </a:p>
        </p:txBody>
      </p:sp>
      <p:sp>
        <p:nvSpPr>
          <p:cNvPr id="44" name="schema-title">
            <a:extLst xmlns:a="http://schemas.openxmlformats.org/drawingml/2006/main">
              <a:ext uri="{FF2B5EF4-FFF2-40B4-BE49-F238E27FC236}">
                <a16:creationId xmlns:a16="http://schemas.microsoft.com/office/drawing/2014/main" id="{7DD50F67-3930-4A0A-9A76-64746F43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479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validate JSON</a:t>
            </a:r>
          </a:p>
        </p:txBody>
      </p:sp>
      <p:sp>
        <p:nvSpPr>
          <p:cNvPr id="45" name="schema-note">
            <a:extLst xmlns:a="http://schemas.openxmlformats.org/drawingml/2006/main">
              <a:ext uri="{FF2B5EF4-FFF2-40B4-BE49-F238E27FC236}">
                <a16:creationId xmlns:a16="http://schemas.microsoft.com/office/drawing/2014/main" id="{2D2EEA48-7476-4DCE-8F19-1724F5C9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05075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ADB2BC"/>
                </a:solidFill>
              </a:defRPr>
            </a:pPr>
            <a:r>
              <a:rPr sz="660" b="0">
                <a:solidFill>
                  <a:srgbClr val="ADB2BC"/>
                </a:solidFill>
              </a:rPr>
              <a:t>4 unique · id 0–3</a:t>
            </a:r>
          </a:p>
        </p:txBody>
      </p:sp>
      <p:sp>
        <p:nvSpPr>
          <p:cNvPr id="46" name="transaction">
            <a:extLst xmlns:a="http://schemas.openxmlformats.org/drawingml/2006/main">
              <a:ext uri="{FF2B5EF4-FFF2-40B4-BE49-F238E27FC236}">
                <a16:creationId xmlns:a16="http://schemas.microsoft.com/office/drawing/2014/main" id="{83687BA6-0727-47CE-8C2F-6B06115C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809750"/>
            <a:ext cx="838200" cy="1504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63323"/>
          </a:solidFill>
          <a:ln xmlns:a="http://schemas.openxmlformats.org/drawingml/2006/main" w="12383">
            <a:solidFill>
              <a:srgbClr val="A3E635"/>
            </a:solidFill>
            <a:prstDash val="solid"/>
          </a:ln>
        </p:spPr>
      </p:sp>
      <p:sp>
        <p:nvSpPr>
          <p:cNvPr id="47" name="tx-label">
            <a:extLst xmlns:a="http://schemas.openxmlformats.org/drawingml/2006/main">
              <a:ext uri="{FF2B5EF4-FFF2-40B4-BE49-F238E27FC236}">
                <a16:creationId xmlns:a16="http://schemas.microsoft.com/office/drawing/2014/main" id="{87BD66FA-2CD6-4E36-99B6-8644CECC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19431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3E635"/>
                </a:solidFill>
              </a:defRPr>
            </a:pPr>
            <a:r>
              <a:rPr sz="750" b="1">
                <a:solidFill>
                  <a:srgbClr val="A3E635"/>
                </a:solidFill>
              </a:rPr>
              <a:t>ONE TX</a:t>
            </a:r>
          </a:p>
        </p:txBody>
      </p:sp>
      <p:sp>
        <p:nvSpPr>
          <p:cNvPr id="48" name="tx-content">
            <a:extLst xmlns:a="http://schemas.openxmlformats.org/drawingml/2006/main">
              <a:ext uri="{FF2B5EF4-FFF2-40B4-BE49-F238E27FC236}">
                <a16:creationId xmlns:a16="http://schemas.microsoft.com/office/drawing/2014/main" id="{E9F3B381-C5D0-44D9-8A73-A7EFEB79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247900"/>
            <a:ext cx="66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5F3ED"/>
                </a:solidFill>
              </a:defRPr>
            </a:pPr>
            <a:r>
              <a:rPr sz="713" b="1">
                <a:solidFill>
                  <a:srgbClr val="F5F3ED"/>
                </a:solidFill>
              </a:rPr>
              <a:t>insert row</a:t>
            </a:r>
          </a:p>
          <a:p xmlns:a="http://schemas.openxmlformats.org/drawingml/2006/main">
            <a:pPr algn="ctr">
              <a:defRPr sz="713" b="1">
                <a:solidFill>
                  <a:srgbClr val="F5F3ED"/>
                </a:solidFill>
              </a:defRPr>
            </a:pPr>
            <a:r>
              <a:rPr sz="713" b="1">
                <a:solidFill>
                  <a:srgbClr val="F5F3ED"/>
                </a:solidFill>
              </a:rPr>
              <a:t>+</a:t>
            </a:r>
          </a:p>
          <a:p xmlns:a="http://schemas.openxmlformats.org/drawingml/2006/main">
            <a:pPr algn="ctr">
              <a:defRPr sz="713" b="1">
                <a:solidFill>
                  <a:srgbClr val="F5F3ED"/>
                </a:solidFill>
              </a:defRPr>
            </a:pPr>
            <a:r>
              <a:rPr sz="713" b="1">
                <a:solidFill>
                  <a:srgbClr val="F5F3ED"/>
                </a:solidFill>
              </a:rPr>
              <a:t>decrement quota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713" b="1">
                <a:solidFill>
                  <a:srgbClr val="F5F3ED"/>
                </a:solidFill>
              </a:defRPr>
            </a:pPr>
            <a:r>
              <a:rPr sz="713" b="1">
                <a:solidFill>
                  <a:srgbClr val="F5F3ED"/>
                </a:solidFill>
              </a:rPr>
              <a:t>commit</a:t>
            </a:r>
          </a:p>
        </p:txBody>
      </p:sp>
      <p:sp>
        <p:nvSpPr>
          <p:cNvPr id="49" name="rollback">
            <a:extLst xmlns:a="http://schemas.openxmlformats.org/drawingml/2006/main">
              <a:ext uri="{FF2B5EF4-FFF2-40B4-BE49-F238E27FC236}">
                <a16:creationId xmlns:a16="http://schemas.microsoft.com/office/drawing/2014/main" id="{AEA11303-C6DB-4192-85DB-4881E693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0"/>
            <a:ext cx="152400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B321E"/>
          </a:solidFill>
          <a:ln xmlns:a="http://schemas.openxmlformats.org/drawingml/2006/main" w="10478">
            <a:solidFill>
              <a:srgbClr val="F2C14E"/>
            </a:solidFill>
            <a:prstDash val="solid"/>
          </a:ln>
        </p:spPr>
      </p:sp>
      <p:sp>
        <p:nvSpPr>
          <p:cNvPr id="50" name="rollback-text">
            <a:extLst xmlns:a="http://schemas.openxmlformats.org/drawingml/2006/main">
              <a:ext uri="{FF2B5EF4-FFF2-40B4-BE49-F238E27FC236}">
                <a16:creationId xmlns:a16="http://schemas.microsoft.com/office/drawing/2014/main" id="{2278144D-3A79-4D00-A25E-B7F3EB46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385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2C14E"/>
                </a:solidFill>
              </a:defRPr>
            </a:pPr>
            <a:r>
              <a:rPr sz="750" b="1">
                <a:solidFill>
                  <a:srgbClr val="F2C14E"/>
                </a:solidFill>
              </a:rPr>
              <a:t>any failure</a:t>
            </a:r>
          </a:p>
          <a:p xmlns:a="http://schemas.openxmlformats.org/drawingml/2006/main">
            <a:pPr algn="ctr">
              <a:defRPr sz="750" b="1">
                <a:solidFill>
                  <a:srgbClr val="F2C14E"/>
                </a:solidFill>
              </a:defRPr>
            </a:pPr>
            <a:r>
              <a:rPr sz="750" b="1">
                <a:solidFill>
                  <a:srgbClr val="F2C14E"/>
                </a:solidFill>
              </a:rPr>
              <a:t>rollback · quota unchanged</a:t>
            </a:r>
          </a:p>
        </p:txBody>
      </p:sp>
      <p:sp>
        <p:nvSpPr>
          <p:cNvPr id="51" name="database">
            <a:extLst xmlns:a="http://schemas.openxmlformats.org/drawingml/2006/main">
              <a:ext uri="{FF2B5EF4-FFF2-40B4-BE49-F238E27FC236}">
                <a16:creationId xmlns:a16="http://schemas.microsoft.com/office/drawing/2014/main" id="{475AAB8E-433C-42B1-8D55-33FB1DC6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29025"/>
            <a:ext cx="952500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1F3735"/>
          </a:solidFill>
          <a:ln xmlns:a="http://schemas.openxmlformats.org/drawingml/2006/main" w="11430">
            <a:solidFill>
              <a:srgbClr val="5EEAD4"/>
            </a:solidFill>
            <a:prstDash val="solid"/>
          </a:ln>
        </p:spPr>
      </p:sp>
      <p:sp>
        <p:nvSpPr>
          <p:cNvPr id="52" name="db-title">
            <a:extLst xmlns:a="http://schemas.openxmlformats.org/drawingml/2006/main">
              <a:ext uri="{FF2B5EF4-FFF2-40B4-BE49-F238E27FC236}">
                <a16:creationId xmlns:a16="http://schemas.microsoft.com/office/drawing/2014/main" id="{765BA030-035F-4959-AB29-0199FD54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338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EEAD4"/>
                </a:solidFill>
              </a:defRPr>
            </a:pPr>
            <a:r>
              <a:rPr sz="713" b="1">
                <a:solidFill>
                  <a:srgbClr val="5EEAD4"/>
                </a:solidFill>
              </a:rPr>
              <a:t>SQL DATABASE</a:t>
            </a:r>
          </a:p>
        </p:txBody>
      </p:sp>
      <p:sp>
        <p:nvSpPr>
          <p:cNvPr id="53" name="db-copy">
            <a:extLst xmlns:a="http://schemas.openxmlformats.org/drawingml/2006/main">
              <a:ext uri="{FF2B5EF4-FFF2-40B4-BE49-F238E27FC236}">
                <a16:creationId xmlns:a16="http://schemas.microsoft.com/office/drawing/2014/main" id="{A63570DB-F0B9-41FE-8C36-5A8E9CF9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9814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F5F3ED"/>
                </a:solidFill>
              </a:defRPr>
            </a:pPr>
            <a:r>
              <a:rPr sz="690" b="0">
                <a:solidFill>
                  <a:srgbClr val="F5F3ED"/>
                </a:solidFill>
              </a:rPr>
              <a:t>SQLite or Postgres</a:t>
            </a:r>
          </a:p>
        </p:txBody>
      </p:sp>
      <p:sp>
        <p:nvSpPr>
          <p:cNvPr id="54" name="react-to-mode">
            <a:extLst xmlns:a="http://schemas.openxmlformats.org/drawingml/2006/main">
              <a:ext uri="{FF2B5EF4-FFF2-40B4-BE49-F238E27FC236}">
                <a16:creationId xmlns:a16="http://schemas.microsoft.com/office/drawing/2014/main" id="{D3C0C429-D001-411A-ACCC-8069202E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14575"/>
            <a:ext cx="2571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8A45"/>
          </a:solidFill>
          <a:ln xmlns:a="http://schemas.openxmlformats.org/drawingml/2006/main" w="0">
            <a:solidFill>
              <a:srgbClr val="FF8A45"/>
            </a:solidFill>
            <a:prstDash val="solid"/>
          </a:ln>
        </p:spPr>
      </p:sp>
      <p:sp>
        <p:nvSpPr>
          <p:cNvPr id="55" name="mode-to-demo">
            <a:extLst xmlns:a="http://schemas.openxmlformats.org/drawingml/2006/main">
              <a:ext uri="{FF2B5EF4-FFF2-40B4-BE49-F238E27FC236}">
                <a16:creationId xmlns:a16="http://schemas.microsoft.com/office/drawing/2014/main" id="{4A90CF69-7BB1-4121-BDFB-4BABD0D8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00350"/>
            <a:ext cx="1143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56" name="demo-to-fixture">
            <a:extLst xmlns:a="http://schemas.openxmlformats.org/drawingml/2006/main">
              <a:ext uri="{FF2B5EF4-FFF2-40B4-BE49-F238E27FC236}">
                <a16:creationId xmlns:a16="http://schemas.microsoft.com/office/drawing/2014/main" id="{FF68687D-EAA8-4799-957C-764F2F97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62350"/>
            <a:ext cx="381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57" name="mode-to-live">
            <a:extLst xmlns:a="http://schemas.openxmlformats.org/drawingml/2006/main">
              <a:ext uri="{FF2B5EF4-FFF2-40B4-BE49-F238E27FC236}">
                <a16:creationId xmlns:a16="http://schemas.microsoft.com/office/drawing/2014/main" id="{4E39D07B-BCCC-4F71-AE1E-8EAF35E3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14575"/>
            <a:ext cx="4476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8A45"/>
          </a:solidFill>
          <a:ln xmlns:a="http://schemas.openxmlformats.org/drawingml/2006/main" w="0">
            <a:solidFill>
              <a:srgbClr val="FF8A45"/>
            </a:solidFill>
            <a:prstDash val="solid"/>
          </a:ln>
        </p:spPr>
      </p:sp>
      <p:sp>
        <p:nvSpPr>
          <p:cNvPr id="58" name="live-to-api">
            <a:extLst xmlns:a="http://schemas.openxmlformats.org/drawingml/2006/main">
              <a:ext uri="{FF2B5EF4-FFF2-40B4-BE49-F238E27FC236}">
                <a16:creationId xmlns:a16="http://schemas.microsoft.com/office/drawing/2014/main" id="{55F83167-D136-4390-8D21-FA933E2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145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8A45"/>
          </a:solidFill>
          <a:ln xmlns:a="http://schemas.openxmlformats.org/drawingml/2006/main" w="0">
            <a:solidFill>
              <a:srgbClr val="FF8A45"/>
            </a:solidFill>
            <a:prstDash val="solid"/>
          </a:ln>
        </p:spPr>
      </p:sp>
      <p:sp>
        <p:nvSpPr>
          <p:cNvPr id="59" name="api-to-quota">
            <a:extLst xmlns:a="http://schemas.openxmlformats.org/drawingml/2006/main">
              <a:ext uri="{FF2B5EF4-FFF2-40B4-BE49-F238E27FC236}">
                <a16:creationId xmlns:a16="http://schemas.microsoft.com/office/drawing/2014/main" id="{68424403-2B50-426D-87A4-2ED9C9B0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14575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60" name="quota-to-hf">
            <a:extLst xmlns:a="http://schemas.openxmlformats.org/drawingml/2006/main">
              <a:ext uri="{FF2B5EF4-FFF2-40B4-BE49-F238E27FC236}">
                <a16:creationId xmlns:a16="http://schemas.microsoft.com/office/drawing/2014/main" id="{41F7A46E-825A-47C3-BBD2-D4D9A5A5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14575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61" name="hf-to-schema">
            <a:extLst xmlns:a="http://schemas.openxmlformats.org/drawingml/2006/main">
              <a:ext uri="{FF2B5EF4-FFF2-40B4-BE49-F238E27FC236}">
                <a16:creationId xmlns:a16="http://schemas.microsoft.com/office/drawing/2014/main" id="{E35C79C0-BA2C-4A43-9693-1234414E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14575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62" name="schema-to-tx">
            <a:extLst xmlns:a="http://schemas.openxmlformats.org/drawingml/2006/main">
              <a:ext uri="{FF2B5EF4-FFF2-40B4-BE49-F238E27FC236}">
                <a16:creationId xmlns:a16="http://schemas.microsoft.com/office/drawing/2014/main" id="{4392BA00-F607-4562-8C48-B0DA165D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14575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63" name="tx-to-db">
            <a:extLst xmlns:a="http://schemas.openxmlformats.org/drawingml/2006/main">
              <a:ext uri="{FF2B5EF4-FFF2-40B4-BE49-F238E27FC236}">
                <a16:creationId xmlns:a16="http://schemas.microsoft.com/office/drawing/2014/main" id="{B00B4FFD-E17B-4FF0-8E55-B80C0FFF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14700"/>
            <a:ext cx="11430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64" name="failure-to-rollback">
            <a:extLst xmlns:a="http://schemas.openxmlformats.org/drawingml/2006/main">
              <a:ext uri="{FF2B5EF4-FFF2-40B4-BE49-F238E27FC236}">
                <a16:creationId xmlns:a16="http://schemas.microsoft.com/office/drawing/2014/main" id="{416C0674-0B11-4126-AE50-D6002BC7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28950"/>
            <a:ext cx="114300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F2C14E"/>
            </a:solidFill>
            <a:prstDash val="solid"/>
          </a:ln>
        </p:spPr>
      </p:sp>
      <p:sp>
        <p:nvSpPr>
          <p:cNvPr id="65" name="control-label">
            <a:extLst xmlns:a="http://schemas.openxmlformats.org/drawingml/2006/main">
              <a:ext uri="{FF2B5EF4-FFF2-40B4-BE49-F238E27FC236}">
                <a16:creationId xmlns:a16="http://schemas.microsoft.com/office/drawing/2014/main" id="{CDF2F8BE-70B7-4B15-9688-DAC8282A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EEAD4"/>
                </a:solidFill>
              </a:defRPr>
            </a:pPr>
            <a:r>
              <a:rPr sz="863" b="1">
                <a:solidFill>
                  <a:srgbClr val="5EEAD4"/>
                </a:solidFill>
              </a:rPr>
              <a:t>IDENTITY PROVISIONING</a:t>
            </a:r>
          </a:p>
        </p:txBody>
      </p:sp>
      <p:sp>
        <p:nvSpPr>
          <p:cNvPr id="66" name="clerk-event-frame">
            <a:extLst xmlns:a="http://schemas.openxmlformats.org/drawingml/2006/main">
              <a:ext uri="{FF2B5EF4-FFF2-40B4-BE49-F238E27FC236}">
                <a16:creationId xmlns:a16="http://schemas.microsoft.com/office/drawing/2014/main" id="{011532A0-6B1C-4239-B44A-C2E756DB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67275"/>
            <a:ext cx="12192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3735"/>
          </a:solidFill>
          <a:ln xmlns:a="http://schemas.openxmlformats.org/drawingml/2006/main" w="10478">
            <a:solidFill>
              <a:srgbClr val="5EEAD4"/>
            </a:solidFill>
            <a:prstDash val="solid"/>
          </a:ln>
        </p:spPr>
      </p:sp>
      <p:sp>
        <p:nvSpPr>
          <p:cNvPr id="67" name="clerk-event-eyebrow">
            <a:extLst xmlns:a="http://schemas.openxmlformats.org/drawingml/2006/main">
              <a:ext uri="{FF2B5EF4-FFF2-40B4-BE49-F238E27FC236}">
                <a16:creationId xmlns:a16="http://schemas.microsoft.com/office/drawing/2014/main" id="{EA045D62-7726-4349-9C66-E1047421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62525"/>
            <a:ext cx="990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5EEAD4"/>
                </a:solidFill>
              </a:defRPr>
            </a:pPr>
            <a:r>
              <a:rPr sz="690" b="1">
                <a:solidFill>
                  <a:srgbClr val="5EEAD4"/>
                </a:solidFill>
              </a:rPr>
              <a:t>CLERK</a:t>
            </a:r>
          </a:p>
        </p:txBody>
      </p:sp>
      <p:sp>
        <p:nvSpPr>
          <p:cNvPr id="68" name="clerk-event-title">
            <a:extLst xmlns:a="http://schemas.openxmlformats.org/drawingml/2006/main">
              <a:ext uri="{FF2B5EF4-FFF2-40B4-BE49-F238E27FC236}">
                <a16:creationId xmlns:a16="http://schemas.microsoft.com/office/drawing/2014/main" id="{1484FBD9-AF4D-4046-9300-FA514374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6255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user.created</a:t>
            </a:r>
          </a:p>
        </p:txBody>
      </p:sp>
      <p:sp>
        <p:nvSpPr>
          <p:cNvPr id="69" name="svix-frame">
            <a:extLst xmlns:a="http://schemas.openxmlformats.org/drawingml/2006/main">
              <a:ext uri="{FF2B5EF4-FFF2-40B4-BE49-F238E27FC236}">
                <a16:creationId xmlns:a16="http://schemas.microsoft.com/office/drawing/2014/main" id="{81F03709-28E0-4C97-9F86-4658EAD0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67275"/>
            <a:ext cx="14097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3735"/>
          </a:solidFill>
          <a:ln xmlns:a="http://schemas.openxmlformats.org/drawingml/2006/main" w="10478">
            <a:solidFill>
              <a:srgbClr val="5EEAD4"/>
            </a:solidFill>
            <a:prstDash val="solid"/>
          </a:ln>
        </p:spPr>
      </p:sp>
      <p:sp>
        <p:nvSpPr>
          <p:cNvPr id="70" name="svix-eyebrow">
            <a:extLst xmlns:a="http://schemas.openxmlformats.org/drawingml/2006/main">
              <a:ext uri="{FF2B5EF4-FFF2-40B4-BE49-F238E27FC236}">
                <a16:creationId xmlns:a16="http://schemas.microsoft.com/office/drawing/2014/main" id="{4A4231D8-E4E7-4E54-80F8-B24DE6C0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62525"/>
            <a:ext cx="1181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5EEAD4"/>
                </a:solidFill>
              </a:defRPr>
            </a:pPr>
            <a:r>
              <a:rPr sz="690" b="1">
                <a:solidFill>
                  <a:srgbClr val="5EEAD4"/>
                </a:solidFill>
              </a:rPr>
              <a:t>WEBHOOK</a:t>
            </a:r>
          </a:p>
        </p:txBody>
      </p:sp>
      <p:sp>
        <p:nvSpPr>
          <p:cNvPr id="71" name="svix-title">
            <a:extLst xmlns:a="http://schemas.openxmlformats.org/drawingml/2006/main">
              <a:ext uri="{FF2B5EF4-FFF2-40B4-BE49-F238E27FC236}">
                <a16:creationId xmlns:a16="http://schemas.microsoft.com/office/drawing/2014/main" id="{B8E1031B-CB86-49D2-9CDC-0E699197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Svix signature</a:t>
            </a:r>
          </a:p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verification</a:t>
            </a:r>
          </a:p>
        </p:txBody>
      </p:sp>
      <p:sp>
        <p:nvSpPr>
          <p:cNvPr id="72" name="provision-frame">
            <a:extLst xmlns:a="http://schemas.openxmlformats.org/drawingml/2006/main">
              <a:ext uri="{FF2B5EF4-FFF2-40B4-BE49-F238E27FC236}">
                <a16:creationId xmlns:a16="http://schemas.microsoft.com/office/drawing/2014/main" id="{636DF9DD-53A9-4972-B339-279427B2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67275"/>
            <a:ext cx="1495425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3735"/>
          </a:solidFill>
          <a:ln xmlns:a="http://schemas.openxmlformats.org/drawingml/2006/main" w="10478">
            <a:solidFill>
              <a:srgbClr val="5EEAD4"/>
            </a:solidFill>
            <a:prstDash val="solid"/>
          </a:ln>
        </p:spPr>
      </p:sp>
      <p:sp>
        <p:nvSpPr>
          <p:cNvPr id="73" name="provision-eyebrow">
            <a:extLst xmlns:a="http://schemas.openxmlformats.org/drawingml/2006/main">
              <a:ext uri="{FF2B5EF4-FFF2-40B4-BE49-F238E27FC236}">
                <a16:creationId xmlns:a16="http://schemas.microsoft.com/office/drawing/2014/main" id="{340A3138-45D9-4975-841C-72FBEE4C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62525"/>
            <a:ext cx="1266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5EEAD4"/>
                </a:solidFill>
              </a:defRPr>
            </a:pPr>
            <a:r>
              <a:rPr sz="690" b="1">
                <a:solidFill>
                  <a:srgbClr val="5EEAD4"/>
                </a:solidFill>
              </a:rPr>
              <a:t>PROVISION</a:t>
            </a:r>
          </a:p>
        </p:txBody>
      </p:sp>
      <p:sp>
        <p:nvSpPr>
          <p:cNvPr id="74" name="provision-title">
            <a:extLst xmlns:a="http://schemas.openxmlformats.org/drawingml/2006/main">
              <a:ext uri="{FF2B5EF4-FFF2-40B4-BE49-F238E27FC236}">
                <a16:creationId xmlns:a16="http://schemas.microsoft.com/office/drawing/2014/main" id="{1FD66274-6065-4167-80FA-33CB5142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62550"/>
            <a:ext cx="1304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ChallengeQuota</a:t>
            </a:r>
          </a:p>
          <a:p xmlns:a="http://schemas.openxmlformats.org/drawingml/2006/main">
            <a:pPr algn="ctr">
              <a:defRPr sz="863" b="1">
                <a:solidFill>
                  <a:srgbClr val="F5F3ED"/>
                </a:solidFill>
              </a:defRPr>
            </a:pPr>
            <a:r>
              <a:rPr sz="863" b="1">
                <a:solidFill>
                  <a:srgbClr val="F5F3ED"/>
                </a:solidFill>
              </a:rPr>
              <a:t>record</a:t>
            </a:r>
          </a:p>
        </p:txBody>
      </p:sp>
      <p:sp>
        <p:nvSpPr>
          <p:cNvPr id="75" name="side-routes">
            <a:extLst xmlns:a="http://schemas.openxmlformats.org/drawingml/2006/main">
              <a:ext uri="{FF2B5EF4-FFF2-40B4-BE49-F238E27FC236}">
                <a16:creationId xmlns:a16="http://schemas.microsoft.com/office/drawing/2014/main" id="{C819B715-EE5D-4CDE-9A30-746C80A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67275"/>
            <a:ext cx="33909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D2F35"/>
          </a:solidFill>
          <a:ln xmlns:a="http://schemas.openxmlformats.org/drawingml/2006/main" w="9525">
            <a:solidFill>
              <a:srgbClr val="565B66"/>
            </a:solidFill>
            <a:prstDash val="solid"/>
          </a:ln>
        </p:spPr>
      </p:sp>
      <p:sp>
        <p:nvSpPr>
          <p:cNvPr id="76" name="side-routes-title">
            <a:extLst xmlns:a="http://schemas.openxmlformats.org/drawingml/2006/main">
              <a:ext uri="{FF2B5EF4-FFF2-40B4-BE49-F238E27FC236}">
                <a16:creationId xmlns:a16="http://schemas.microsoft.com/office/drawing/2014/main" id="{31D7438F-E579-410F-BC76-A6EF04E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9815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DB2BC"/>
                </a:solidFill>
              </a:defRPr>
            </a:pPr>
            <a:r>
              <a:rPr sz="750" b="1">
                <a:solidFill>
                  <a:srgbClr val="ADB2BC"/>
                </a:solidFill>
              </a:rPr>
              <a:t>Read paths</a:t>
            </a:r>
          </a:p>
        </p:txBody>
      </p:sp>
      <p:sp>
        <p:nvSpPr>
          <p:cNvPr id="77" name="side-routes-copy">
            <a:extLst xmlns:a="http://schemas.openxmlformats.org/drawingml/2006/main">
              <a:ext uri="{FF2B5EF4-FFF2-40B4-BE49-F238E27FC236}">
                <a16:creationId xmlns:a16="http://schemas.microsoft.com/office/drawing/2014/main" id="{30277026-EA95-466E-A61B-1481DC97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815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5F3ED"/>
                </a:solidFill>
              </a:defRPr>
            </a:pPr>
            <a:r>
              <a:rPr sz="788" b="0">
                <a:solidFill>
                  <a:srgbClr val="F5F3ED"/>
                </a:solidFill>
              </a:rPr>
              <a:t>GET /api/quota    ·    GET /api/my-history (newest 100)</a:t>
            </a:r>
          </a:p>
        </p:txBody>
      </p:sp>
      <p:sp>
        <p:nvSpPr>
          <p:cNvPr id="78" name="db-models">
            <a:extLst xmlns:a="http://schemas.openxmlformats.org/drawingml/2006/main">
              <a:ext uri="{FF2B5EF4-FFF2-40B4-BE49-F238E27FC236}">
                <a16:creationId xmlns:a16="http://schemas.microsoft.com/office/drawing/2014/main" id="{309B151C-9167-4768-B028-69C8A937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48250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EEAD4"/>
                </a:solidFill>
              </a:defRPr>
            </a:pPr>
            <a:r>
              <a:rPr sz="788" b="1">
                <a:solidFill>
                  <a:srgbClr val="5EEAD4"/>
                </a:solidFill>
              </a:rPr>
              <a:t>Tables: challenges + challenge_quotas</a:t>
            </a:r>
          </a:p>
        </p:txBody>
      </p:sp>
      <p:sp>
        <p:nvSpPr>
          <p:cNvPr id="79" name="boundary-rule">
            <a:extLst xmlns:a="http://schemas.openxmlformats.org/drawingml/2006/main">
              <a:ext uri="{FF2B5EF4-FFF2-40B4-BE49-F238E27FC236}">
                <a16:creationId xmlns:a16="http://schemas.microsoft.com/office/drawing/2014/main" id="{E98FE124-C398-49CD-94C2-59324F24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F3ED"/>
            </a:solidFill>
            <a:prstDash val="solid"/>
          </a:ln>
        </p:spPr>
      </p:sp>
      <p:sp>
        <p:nvSpPr>
          <p:cNvPr id="80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4A1B1EF3-FD23-4D06-AB2C-26CC890F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</a:defRPr>
            </a:pPr>
            <a:r>
              <a:rPr sz="900" b="1">
                <a:solidFill>
                  <a:srgbClr val="FF6B6B"/>
                </a:solidFill>
              </a:rPr>
              <a:t>TRUST + FAILURE BOUNDARY</a:t>
            </a:r>
          </a:p>
        </p:txBody>
      </p:sp>
      <p:sp>
        <p:nvSpPr>
          <p:cNvPr id="81" name="boundary-0">
            <a:extLst xmlns:a="http://schemas.openxmlformats.org/drawingml/2006/main">
              <a:ext uri="{FF2B5EF4-FFF2-40B4-BE49-F238E27FC236}">
                <a16:creationId xmlns:a16="http://schemas.microsoft.com/office/drawing/2014/main" id="{469709DA-9AA1-495C-AAEA-EAFB86FA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9825"/>
            <a:ext cx="2619375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D2F35"/>
          </a:solidFill>
          <a:ln xmlns:a="http://schemas.openxmlformats.org/drawingml/2006/main" w="9525">
            <a:solidFill>
              <a:srgbClr val="565B66"/>
            </a:solidFill>
            <a:prstDash val="solid"/>
          </a:ln>
        </p:spPr>
      </p:sp>
      <p:sp>
        <p:nvSpPr>
          <p:cNvPr id="82" name="boundary-head-0">
            <a:extLst xmlns:a="http://schemas.openxmlformats.org/drawingml/2006/main">
              <a:ext uri="{FF2B5EF4-FFF2-40B4-BE49-F238E27FC236}">
                <a16:creationId xmlns:a16="http://schemas.microsoft.com/office/drawing/2014/main" id="{15B818C1-C6DC-4B07-A51A-5DFC0FEE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150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A3E635"/>
                </a:solidFill>
              </a:defRPr>
            </a:pPr>
            <a:r>
              <a:rPr sz="698" b="1">
                <a:solidFill>
                  <a:srgbClr val="A3E635"/>
                </a:solidFill>
              </a:rPr>
              <a:t>SECRETS</a:t>
            </a:r>
          </a:p>
        </p:txBody>
      </p:sp>
      <p:sp>
        <p:nvSpPr>
          <p:cNvPr id="83" name="boundary-body-0">
            <a:extLst xmlns:a="http://schemas.openxmlformats.org/drawingml/2006/main">
              <a:ext uri="{FF2B5EF4-FFF2-40B4-BE49-F238E27FC236}">
                <a16:creationId xmlns:a16="http://schemas.microsoft.com/office/drawing/2014/main" id="{DD6B1416-E36C-4E0B-BCE6-96CE5378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674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DB2BC"/>
                </a:solidFill>
              </a:defRPr>
            </a:pPr>
            <a:r>
              <a:rPr sz="675" b="0">
                <a:solidFill>
                  <a:srgbClr val="ADB2BC"/>
                </a:solidFill>
              </a:rPr>
              <a:t>Clerk, webhook, and HF secrets remain in backend environment variables</a:t>
            </a:r>
          </a:p>
        </p:txBody>
      </p:sp>
      <p:sp>
        <p:nvSpPr>
          <p:cNvPr id="84" name="boundary-1">
            <a:extLst xmlns:a="http://schemas.openxmlformats.org/drawingml/2006/main">
              <a:ext uri="{FF2B5EF4-FFF2-40B4-BE49-F238E27FC236}">
                <a16:creationId xmlns:a16="http://schemas.microsoft.com/office/drawing/2014/main" id="{64E4A94D-BF06-4730-A873-A6F53F12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219825"/>
            <a:ext cx="2619375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3D2527"/>
          </a:solidFill>
          <a:ln xmlns:a="http://schemas.openxmlformats.org/drawingml/2006/main" w="9525">
            <a:solidFill>
              <a:srgbClr val="565B66"/>
            </a:solidFill>
            <a:prstDash val="solid"/>
          </a:ln>
        </p:spPr>
      </p:sp>
      <p:sp>
        <p:nvSpPr>
          <p:cNvPr id="85" name="boundary-head-1">
            <a:extLst xmlns:a="http://schemas.openxmlformats.org/drawingml/2006/main">
              <a:ext uri="{FF2B5EF4-FFF2-40B4-BE49-F238E27FC236}">
                <a16:creationId xmlns:a16="http://schemas.microsoft.com/office/drawing/2014/main" id="{682F92AD-7749-4267-A682-0F7FBED9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3150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FF6B6B"/>
                </a:solidFill>
              </a:defRPr>
            </a:pPr>
            <a:r>
              <a:rPr sz="698" b="1">
                <a:solidFill>
                  <a:srgbClr val="FF6B6B"/>
                </a:solidFill>
              </a:rPr>
              <a:t>MODEL OUTPUT</a:t>
            </a:r>
          </a:p>
        </p:txBody>
      </p:sp>
      <p:sp>
        <p:nvSpPr>
          <p:cNvPr id="86" name="boundary-body-1">
            <a:extLst xmlns:a="http://schemas.openxmlformats.org/drawingml/2006/main">
              <a:ext uri="{FF2B5EF4-FFF2-40B4-BE49-F238E27FC236}">
                <a16:creationId xmlns:a16="http://schemas.microsoft.com/office/drawing/2014/main" id="{B74DE10D-8E5F-44D2-A56E-03E14E0F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62674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DB2BC"/>
                </a:solidFill>
              </a:defRPr>
            </a:pPr>
            <a:r>
              <a:rPr sz="675" b="0">
                <a:solidFill>
                  <a:srgbClr val="ADB2BC"/>
                </a:solidFill>
              </a:rPr>
              <a:t>malformed, empty, or non-unique options become a generic 503</a:t>
            </a:r>
          </a:p>
        </p:txBody>
      </p:sp>
      <p:sp>
        <p:nvSpPr>
          <p:cNvPr id="87" name="boundary-2">
            <a:extLst xmlns:a="http://schemas.openxmlformats.org/drawingml/2006/main">
              <a:ext uri="{FF2B5EF4-FFF2-40B4-BE49-F238E27FC236}">
                <a16:creationId xmlns:a16="http://schemas.microsoft.com/office/drawing/2014/main" id="{3FD71CE8-7A19-4D10-B9C5-CEFF7279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19825"/>
            <a:ext cx="2619375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D2F35"/>
          </a:solidFill>
          <a:ln xmlns:a="http://schemas.openxmlformats.org/drawingml/2006/main" w="9525">
            <a:solidFill>
              <a:srgbClr val="565B66"/>
            </a:solidFill>
            <a:prstDash val="solid"/>
          </a:ln>
        </p:spPr>
      </p:sp>
      <p:sp>
        <p:nvSpPr>
          <p:cNvPr id="88" name="boundary-head-2">
            <a:extLst xmlns:a="http://schemas.openxmlformats.org/drawingml/2006/main">
              <a:ext uri="{FF2B5EF4-FFF2-40B4-BE49-F238E27FC236}">
                <a16:creationId xmlns:a16="http://schemas.microsoft.com/office/drawing/2014/main" id="{294CE40E-5963-4671-8501-CFDBE568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150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A3E635"/>
                </a:solidFill>
              </a:defRPr>
            </a:pPr>
            <a:r>
              <a:rPr sz="698" b="1">
                <a:solidFill>
                  <a:srgbClr val="A3E635"/>
                </a:solidFill>
              </a:rPr>
              <a:t>ATOMICITY</a:t>
            </a:r>
          </a:p>
        </p:txBody>
      </p:sp>
      <p:sp>
        <p:nvSpPr>
          <p:cNvPr id="89" name="boundary-body-2">
            <a:extLst xmlns:a="http://schemas.openxmlformats.org/drawingml/2006/main">
              <a:ext uri="{FF2B5EF4-FFF2-40B4-BE49-F238E27FC236}">
                <a16:creationId xmlns:a16="http://schemas.microsoft.com/office/drawing/2014/main" id="{FE8FB30F-BEBE-4F53-B167-26A91C3F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2674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DB2BC"/>
                </a:solidFill>
              </a:defRPr>
            </a:pPr>
            <a:r>
              <a:rPr sz="675" b="0">
                <a:solidFill>
                  <a:srgbClr val="ADB2BC"/>
                </a:solidFill>
              </a:rPr>
              <a:t>challenge insert and quota decrement share one SQLAlchemy session</a:t>
            </a:r>
          </a:p>
        </p:txBody>
      </p:sp>
      <p:sp>
        <p:nvSpPr>
          <p:cNvPr id="90" name="boundary-3">
            <a:extLst xmlns:a="http://schemas.openxmlformats.org/drawingml/2006/main">
              <a:ext uri="{FF2B5EF4-FFF2-40B4-BE49-F238E27FC236}">
                <a16:creationId xmlns:a16="http://schemas.microsoft.com/office/drawing/2014/main" id="{3A632A77-1E3A-484A-B6AE-A545828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6219825"/>
            <a:ext cx="2619375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D2F35"/>
          </a:solidFill>
          <a:ln xmlns:a="http://schemas.openxmlformats.org/drawingml/2006/main" w="9525">
            <a:solidFill>
              <a:srgbClr val="565B66"/>
            </a:solidFill>
            <a:prstDash val="solid"/>
          </a:ln>
        </p:spPr>
      </p:sp>
      <p:sp>
        <p:nvSpPr>
          <p:cNvPr id="91" name="boundary-head-3">
            <a:extLst xmlns:a="http://schemas.openxmlformats.org/drawingml/2006/main">
              <a:ext uri="{FF2B5EF4-FFF2-40B4-BE49-F238E27FC236}">
                <a16:creationId xmlns:a16="http://schemas.microsoft.com/office/drawing/2014/main" id="{C492AA96-89E1-4FE7-8816-E62DF927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3150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A3E635"/>
                </a:solidFill>
              </a:defRPr>
            </a:pPr>
            <a:r>
              <a:rPr sz="698" b="1">
                <a:solidFill>
                  <a:srgbClr val="A3E635"/>
                </a:solidFill>
              </a:rPr>
              <a:t>SCALE</a:t>
            </a:r>
          </a:p>
        </p:txBody>
      </p:sp>
      <p:sp>
        <p:nvSpPr>
          <p:cNvPr id="92" name="boundary-body-3">
            <a:extLst xmlns:a="http://schemas.openxmlformats.org/drawingml/2006/main">
              <a:ext uri="{FF2B5EF4-FFF2-40B4-BE49-F238E27FC236}">
                <a16:creationId xmlns:a16="http://schemas.microsoft.com/office/drawing/2014/main" id="{54645AE9-2BBC-49D3-9874-D30AC9FE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62674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DB2BC"/>
                </a:solidFill>
              </a:defRPr>
            </a:pPr>
            <a:r>
              <a:rPr sz="675" b="0">
                <a:solidFill>
                  <a:srgbClr val="ADB2BC"/>
                </a:solidFill>
              </a:rPr>
              <a:t>SQLite is local default; managed Postgres + migrations are still required for scale</a:t>
            </a:r>
          </a:p>
        </p:txBody>
      </p:sp>
      <p:sp>
        <p:nvSpPr>
          <p:cNvPr id="93" name="sources">
            <a:extLst xmlns:a="http://schemas.openxmlformats.org/drawingml/2006/main">
              <a:ext uri="{FF2B5EF4-FFF2-40B4-BE49-F238E27FC236}">
                <a16:creationId xmlns:a16="http://schemas.microsoft.com/office/drawing/2014/main" id="{1D250BF5-AA32-49D6-8069-900ECC9C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15125"/>
            <a:ext cx="7524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DB2BC"/>
                </a:solidFill>
              </a:defRPr>
            </a:pPr>
            <a:r>
              <a:rPr sz="675" b="0">
                <a:solidFill>
                  <a:srgbClr val="ADB2BC"/>
                </a:solidFill>
              </a:rPr>
              <a:t>Sources: LiveApiProvider.jsx · DemoApiProvider.jsx · routes/challenge.py · ai_generator.py · database/ · routes/webhooks.py</a:t>
            </a:r>
          </a:p>
        </p:txBody>
      </p:sp>
    </p:spTree>
    <p:extLst>
      <p:ext uri="{BB962C8B-B14F-4D97-AF65-F5344CB8AC3E}">
        <p14:creationId xmlns:p14="http://schemas.microsoft.com/office/powerpoint/2010/main" val="223934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2026-07-21T07:48:36.4840000Z</dcterms:created>
  <dcterms:modified xsi:type="dcterms:W3CDTF">2026-07-21T07:48:36.4840000Z</dcterms:modified>
</coreProperties>
</file>